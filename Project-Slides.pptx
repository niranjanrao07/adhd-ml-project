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Old Standard TT"/>
      <p:regular r:id="rId26"/>
      <p:bold r:id="rId27"/>
      <p: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ldStandardTT-regular.fntdata"/><Relationship Id="rId25" Type="http://schemas.openxmlformats.org/officeDocument/2006/relationships/slide" Target="slides/slide20.xml"/><Relationship Id="rId28" Type="http://schemas.openxmlformats.org/officeDocument/2006/relationships/font" Target="fonts/OldStandardTT-italic.fntdata"/><Relationship Id="rId27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90357f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9035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6f90357f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c6f90357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08f7cc4b7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08f7cc4b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08f7cc4b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08f7cc4b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08f7cc4b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08f7cc4b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15a9f553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15a9f553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08f7cc4b7_0_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08f7cc4b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08f7cc4b7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08f7cc4b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08f7cc4b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08f7cc4b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08f7cc4b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08f7cc4b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096e5ccf6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096e5ccf6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096e5ccf6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096e5ccf6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34935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ADHD Detection Using EEG Data with Machine Learning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740925" y="294900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Agenda</a:t>
            </a:r>
            <a:endParaRPr sz="3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40925" y="1188400"/>
            <a:ext cx="37176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AutoNum type="arabicPeriod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Introduction and Project Overview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AutoNum type="arabicPeriod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Methodology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AutoNum type="alphaLcPeriod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Data Overview: EDA and Preprocessing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AutoNum type="alphaLcPeriod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Feature Extraction and Dimensionality Reduction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AutoNum type="alphaLcPeriod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Model Training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842525" y="791075"/>
            <a:ext cx="37176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4.   Code Walkthrough and Demo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5.   Results and Discussion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6.   Key Lessons Learned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7.   Future Work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8.   Conclusion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923450" y="451000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Introduction</a:t>
            </a:r>
            <a:endParaRPr b="1" sz="3000">
              <a:solidFill>
                <a:schemeClr val="l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923450" y="1192475"/>
            <a:ext cx="6974700" cy="3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ld Standard TT"/>
              <a:buChar char="●"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ADHD Overview:  Affects ~11% of children; characterized by inattention, hyperactivity, impulsivity  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ld Standard TT"/>
              <a:buChar char="●"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Diagnostic Gap: Current methods rely on subjective clinical assessments, leading to under- or over-diagnosis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ld Standard TT"/>
              <a:buChar char="●"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Our Solution: 19-channel EEG + supervised LDA → single discriminant axis + classical ML ensemble for objective screening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805325" y="365075"/>
            <a:ext cx="607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2"/>
                </a:solidFill>
              </a:rPr>
              <a:t>Objective and Goal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730475" y="1278975"/>
            <a:ext cx="7827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Developing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a machine learning model which can detect ADHD using EEG signals.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Improvising early detection of ADHD using the non-invasive EEG data and the machine learning models.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To reduce the biases which are attached with </a:t>
            </a:r>
            <a:r>
              <a:rPr lang="en"/>
              <a:t>traditional</a:t>
            </a:r>
            <a:r>
              <a:rPr lang="en"/>
              <a:t> diagnostic methods by designing a machine learning model for ADHD diagnosis.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472475" y="214775"/>
            <a:ext cx="424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Overview of </a:t>
            </a:r>
            <a:r>
              <a:rPr lang="en" sz="3000">
                <a:solidFill>
                  <a:schemeClr val="l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Methodology</a:t>
            </a:r>
            <a:endParaRPr sz="3000">
              <a:solidFill>
                <a:schemeClr val="l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268450" y="1441100"/>
            <a:ext cx="40674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Exploratory Data 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Analysis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Data Preprocessing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Filtering, Z-score normalization, and Artifact removal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Feature Extraction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Time-domain, Frequency-domain, and Nonlinear and Complexity Features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791200" y="652875"/>
            <a:ext cx="40674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Dimensionality Reduction</a:t>
            </a:r>
            <a:endParaRPr sz="18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LDA, PCA, SelectKBest</a:t>
            </a:r>
            <a:endParaRPr sz="18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Model Training</a:t>
            </a:r>
            <a:endParaRPr sz="18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K-fold Cross Validation for hyperparameter tuning</a:t>
            </a:r>
            <a:endParaRPr sz="18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Ensemble Method</a:t>
            </a:r>
            <a:endParaRPr sz="18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■"/>
            </a:pPr>
            <a:r>
              <a:rPr lang="en" sz="18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Decision Tree</a:t>
            </a:r>
            <a:endParaRPr sz="18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■"/>
            </a:pPr>
            <a:r>
              <a:rPr lang="en" sz="18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Random Forest</a:t>
            </a:r>
            <a:endParaRPr sz="18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■"/>
            </a:pPr>
            <a:r>
              <a:rPr lang="en" sz="18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Support Vector Machine</a:t>
            </a:r>
            <a:endParaRPr sz="18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■"/>
            </a:pPr>
            <a:r>
              <a:rPr lang="en" sz="18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Logistic Regression, and</a:t>
            </a:r>
            <a:endParaRPr sz="18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■"/>
            </a:pPr>
            <a:r>
              <a:rPr lang="en" sz="18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K-Nearest Neighbor</a:t>
            </a:r>
            <a:endParaRPr sz="18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773150" y="317375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Exploratory Data </a:t>
            </a:r>
            <a:r>
              <a:rPr lang="en" sz="3000">
                <a:solidFill>
                  <a:schemeClr val="l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Analysis</a:t>
            </a:r>
            <a:endParaRPr sz="3000">
              <a:solidFill>
                <a:schemeClr val="l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944925" y="1039050"/>
            <a:ext cx="69747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ld Standard TT"/>
              <a:buChar char="●"/>
            </a:pPr>
            <a:r>
              <a:rPr lang="en" sz="16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Dataset Overview: 121 EEG recordings (61 ADHD, 60 control) from 19 scalp channels sampled at 128 Hz  </a:t>
            </a:r>
            <a:endParaRPr sz="16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ld Standard TT"/>
              <a:buChar char="●"/>
            </a:pPr>
            <a:r>
              <a:rPr lang="en" sz="16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Signal Length &amp; Quality: Recording durations ranged ~7 000–40 000 samples; no missing or corrupt channels after import  </a:t>
            </a:r>
            <a:endParaRPr sz="16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ld Standard TT"/>
              <a:buChar char="●"/>
            </a:pPr>
            <a:r>
              <a:rPr lang="en" sz="16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Channel Statistics: Raw channel means ∼100–150 µV, SD ∼200–300 µV; post Z-score normalization all channels centered at 0 with unit variance  </a:t>
            </a:r>
            <a:endParaRPr sz="16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ld Standard TT"/>
              <a:buChar char="●"/>
            </a:pPr>
            <a:r>
              <a:rPr lang="en" sz="16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Amplitude Ranges: Peak-to-peak amplitudes typically ±4 000 µV, with artifact thresholding (±100 µV) removing &lt;5% of data segments  </a:t>
            </a:r>
            <a:endParaRPr sz="16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ld Standard TT"/>
              <a:buChar char="●"/>
            </a:pPr>
            <a:r>
              <a:rPr lang="en" sz="16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Class Balance Check: Target distribution nearly even (ADHD: 50.4%, Control: 49.6%), ensuring unbiased downstream modeling</a:t>
            </a:r>
            <a:endParaRPr sz="16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749325" y="354350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Data Preprocessing</a:t>
            </a:r>
            <a:endParaRPr sz="3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749325" y="1000850"/>
            <a:ext cx="74760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Filtering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Applied Butterworth bandpass filter to smooth the signals, removing below 1.0 Hz and above 50 Hz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Removes unwanted low-frequency drift and high-frequency noise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Z-score Normalization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Ensures that all data is scaled uniformly, with mean = 0 and standard deviation = 1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Amplitude-based Artifact removal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Eye movements or muscle activity can introduce unwanted signals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Any data point exceeding threshold=3 was replaced with NaN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676500" y="236225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Feature Extraction</a:t>
            </a:r>
            <a:endParaRPr sz="3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781500" y="925700"/>
            <a:ext cx="75810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Transformed our raw data into new features that are meaningful and informative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Time-domain Features 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Mean, Standard deviation, Peak to Peak Amplitude, Root Mean Square, Number of zero crossings, Skewness, Kurtosis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Frequency-domain Features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Power Bands (Delta, Theta, Alpha, Beta, Gamma), Spectral Entropy, Spectral Edge Frequency, Power Spectral Density Slope and R</a:t>
            </a:r>
            <a:r>
              <a:rPr baseline="30000"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Nonlinear and Complexity Features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Approximate entropy, Hurst Exponent, Hjorth Mobility, Hjorth Complexity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633525" y="148150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Dimensionality Reduction</a:t>
            </a:r>
            <a:endParaRPr sz="3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727800" y="859075"/>
            <a:ext cx="76884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LDA (</a:t>
            </a: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Linear Discriminant Analysis)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Focuses on maximizes the between-class variance and minimizes the within-class variance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Supervised technique that requires labels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PCA (Principal Component Analysis)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Transforms a new set of features that capture the maximum variance in the data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Unsupervised technique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SelectKBest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Selects the top k features based on a chosen statistical test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ANOVA F-test evaluates the variance between the classes for each feature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622800" y="171800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Model Training</a:t>
            </a:r>
            <a:endParaRPr sz="3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904950" y="753850"/>
            <a:ext cx="71193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SVM Model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Applied </a:t>
            </a: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Hyperparameter Tuning by using K-fold Cross Validation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Best hyperparameters were C = 1, Gamma = 0.005, Class weight = balanced for Radial Basis Function (RBF) kernel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●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Ensemble Method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Combined our 5 models into a </a:t>
            </a: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Decision Tree, Random Forest, Support Vector Machine, Logistic Regression, and K-Nearest Neighbor into a stronger overall model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○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Soft voting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ld Standard TT"/>
              <a:buChar char="■"/>
            </a:pPr>
            <a:r>
              <a:rPr lang="en" sz="1800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final prediction was based on the class with the highest average predicted probability</a:t>
            </a:r>
            <a:endParaRPr sz="1800">
              <a:solidFill>
                <a:schemeClr val="dk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/>
        </p:nvSpPr>
        <p:spPr>
          <a:xfrm>
            <a:off x="708700" y="429525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Code Walkthrough and Demo</a:t>
            </a:r>
            <a:endParaRPr sz="3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472750" y="2517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547925" y="935350"/>
            <a:ext cx="82464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Accuracy: 72% of the test samples were </a:t>
            </a:r>
            <a:r>
              <a:rPr lang="en"/>
              <a:t>correctly</a:t>
            </a:r>
            <a:r>
              <a:rPr lang="en"/>
              <a:t> identified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Precision: 69% correctness of all the cases predicted as ADHD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few false positives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85% of actual ADHD cases correctly identified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minimal false negatives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F1-Score: 76%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Balanced trade-off between false positives (Precision) and false negatives (Recall), </a:t>
            </a:r>
            <a:r>
              <a:rPr lang="en" sz="1800"/>
              <a:t>especially</a:t>
            </a:r>
            <a:r>
              <a:rPr lang="en" sz="1800"/>
              <a:t> important for ADHD diagnosis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ROC AUC: 0.788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Good ability to discriminate between ADHD and control groups, indicating good overall model performance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476850" y="25360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540300" y="866800"/>
            <a:ext cx="83937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Evaluated unsupervised reductions: We initially tested PCA (95 % variance) and ANOVA-based SelectKBest, but both methods failed to preserve the label-specific information—classification metrics dropped significantly.  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LDA for supervised compression: Applying Linear Discriminant Analysis solely on the training data projected 458 features onto a single axis that maximizes between-class separation, dramatically improving all downstream model performances.  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Strong classifiers on LDA output: Both SVM and the voting ensemble achieved the best balance, with recall around 85 % and F₁-score near 76 %, showing LDA’s effectiveness in simplifying the decision boundary.  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Limitations &amp; future directions: Our small sample size and basic artifact removal may restrict generalizability; increasing dataset size, refining preprocessing, and exploring multi-axis discriminants could further boost robustness.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504975" y="34840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Lessons learned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612350" y="1171600"/>
            <a:ext cx="7494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data pre processing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Effect of dimensionality reduction on </a:t>
            </a:r>
            <a:r>
              <a:rPr lang="en"/>
              <a:t>the</a:t>
            </a:r>
            <a:r>
              <a:rPr lang="en"/>
              <a:t> model performance.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Feature Engineering is Essential for Accurate Classification.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Ensembling learning doesn’t always yield significant improvements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Importance of model evaluation metrics on the performance of the model.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Feature Selection Helps Reduce Computational Complexity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719450" y="418775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Future Work</a:t>
            </a:r>
            <a:endParaRPr sz="3000">
              <a:solidFill>
                <a:schemeClr val="l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813925" y="1171625"/>
            <a:ext cx="72612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Improved Preprocessing Techniques using deep learning and enhancing the real time pre-processing.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Integrating multimodal data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Real world clinical validation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Try to exploring the other neurodevelopmental disorders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Automated Real-Time ADHD Detection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/>
        </p:nvSpPr>
        <p:spPr>
          <a:xfrm>
            <a:off x="773125" y="429525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Conclusion</a:t>
            </a:r>
            <a:endParaRPr sz="3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1" name="Google Shape;151;p28"/>
          <p:cNvSpPr txBox="1"/>
          <p:nvPr/>
        </p:nvSpPr>
        <p:spPr>
          <a:xfrm>
            <a:off x="740925" y="1188400"/>
            <a:ext cx="82194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ld Standard TT"/>
              <a:buChar char="●"/>
            </a:pPr>
            <a:r>
              <a:rPr lang="en"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We demonstrated that projecting 458 EEG features onto a single LDA discriminant axis yields a highly informative representation for ADHD vs. control classification.  </a:t>
            </a:r>
            <a:endParaRPr sz="17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ld Standard TT"/>
              <a:buChar char="●"/>
            </a:pPr>
            <a:r>
              <a:rPr lang="en"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 voting ensemble of classical models (SVM, Random Forest, KNN, Logistic Regression, Decision Tree) on the LDA output achieved:  </a:t>
            </a:r>
            <a:endParaRPr sz="17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Accuracy: 72 % , Precision: 68.8 % , Recall: 84.6 % , F₁-Score: 75.9 %  ROC-AUC: 78.8 %  </a:t>
            </a:r>
            <a:endParaRPr sz="17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ld Standard TT"/>
              <a:buChar char="●"/>
            </a:pPr>
            <a:r>
              <a:rPr lang="en"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This lightweight, interpretable pipeline offers a practical, low-cost aid for objective ADHD screening using EEG.  </a:t>
            </a:r>
            <a:endParaRPr sz="17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/>
        </p:nvSpPr>
        <p:spPr>
          <a:xfrm>
            <a:off x="3844200" y="1925250"/>
            <a:ext cx="114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Q/A</a:t>
            </a:r>
            <a:endParaRPr sz="3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/>
        </p:nvSpPr>
        <p:spPr>
          <a:xfrm>
            <a:off x="937575" y="561000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Appendix</a:t>
            </a:r>
            <a:endParaRPr sz="3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342900" y="1371600"/>
            <a:ext cx="8507700" cy="3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" name="Google Shape;163;p30"/>
          <p:cNvSpPr txBox="1"/>
          <p:nvPr/>
        </p:nvSpPr>
        <p:spPr>
          <a:xfrm>
            <a:off x="1121925" y="1188400"/>
            <a:ext cx="8219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Code Walkthrough</a:t>
            </a:r>
            <a:b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b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Live demo of preprocessing → feature extraction → LDA projection → SVM/ensemble inference</a:t>
            </a:r>
            <a:b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Highlight key functions in preprocessing.py, feature_engineering.py, model_training.py</a:t>
            </a:r>
            <a:br>
              <a:rPr lang="en">
                <a:solidFill>
                  <a:srgbClr val="188038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Discussion / Q&amp;A</a:t>
            </a:r>
            <a:b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b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Prepared answers on LDA vs. PCA, EEG artifact handling, model limitations</a:t>
            </a:r>
            <a:b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Encouraged audience participation; addressed follow-up questions on thresholds</a:t>
            </a:r>
            <a:b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Visualization</a:t>
            </a:r>
            <a:b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b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Confusion matrix heatmap, ROC curves embedded in slides</a:t>
            </a:r>
            <a:b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EDA visuals: channel amplitude distributions, class balance bar chart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/>
        </p:nvSpPr>
        <p:spPr>
          <a:xfrm>
            <a:off x="937575" y="561000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Appendix</a:t>
            </a:r>
            <a:endParaRPr sz="3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69" name="Google Shape;169;p31"/>
          <p:cNvSpPr txBox="1"/>
          <p:nvPr/>
        </p:nvSpPr>
        <p:spPr>
          <a:xfrm>
            <a:off x="342900" y="1371600"/>
            <a:ext cx="8507700" cy="3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1121925" y="1188400"/>
            <a:ext cx="8219400" cy="4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Version Control &amp; Storage</a:t>
            </a:r>
            <a:endParaRPr b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Centralized code/data on Google drive with versioned folders</a:t>
            </a:r>
            <a:b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Shared Jupyter notebooks and slide source in a google drive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Lessons Learned</a:t>
            </a:r>
            <a:endParaRPr b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Importance of strict train/test split before LDA to avoid leakage</a:t>
            </a:r>
            <a:b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Iterative hyperparameter tuning—grid search with nested CV</a:t>
            </a:r>
            <a:b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Robust artifact removal and normalization are critical foundations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Teamwork &amp; Pair Programming</a:t>
            </a:r>
            <a:endParaRPr b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Weekly remote sessions to co-develop feature extraction routines</a:t>
            </a:r>
            <a:b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Paired code reviews and joint debugging via video calls</a:t>
            </a:r>
            <a:b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Rotating “driver” and “navigator” roles to ensure shared code ownership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/>
        </p:nvSpPr>
        <p:spPr>
          <a:xfrm>
            <a:off x="937575" y="561000"/>
            <a:ext cx="618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Appendix</a:t>
            </a:r>
            <a:endParaRPr sz="3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6" name="Google Shape;176;p32"/>
          <p:cNvSpPr txBox="1"/>
          <p:nvPr/>
        </p:nvSpPr>
        <p:spPr>
          <a:xfrm>
            <a:off x="342900" y="1371600"/>
            <a:ext cx="8507700" cy="3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1121925" y="1188400"/>
            <a:ext cx="8219400" cy="26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Agile Practices</a:t>
            </a:r>
            <a:b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b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One-week “sprints” with clear deliverables: EDA, preprocessing, modeling, slides</a:t>
            </a:r>
            <a:br>
              <a:rPr lang="en">
                <a:solidFill>
                  <a:srgbClr val="188038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>
              <a:solidFill>
                <a:srgbClr val="188038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Creative Presentation Techniques (2 pts)</a:t>
            </a:r>
            <a:br>
              <a:rPr b="1"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b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Subtle slide transitions, consistent color palette</a:t>
            </a:r>
            <a:b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Diagram of pipeline flow animated step-by-step</a:t>
            </a:r>
            <a:endParaRPr b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